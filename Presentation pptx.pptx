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Roboto Slab"/>
      <p:regular r:id="rId13"/>
    </p:embeddedFont>
    <p:embeddedFont>
      <p:font typeface="Roboto" panose="0200000000000000000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 showGuides="1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  <a:endParaRPr lang="en-GB" dirty="0"/>
          </a:p>
          <a:p>
            <a:pPr>
              <a:buFont typeface="Arial" panose="020B060402020209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Leveraging Agentic AI for Scalable, Fair, and Effective Debt Management at Geldium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the System Works</a:t>
            </a:r>
            <a:endParaRPr lang="en-GB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14438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/>
              <a:t>Our autonomous collections system transforms raw data into proactive financial support through a continuous four-stage cycle.</a:t>
            </a: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/>
              <a:t>Inputs (Data Collection): The system ingests real-time data including Credit Utilization, Missed_Payments, Debt_to_Income_Ratio, and recent Payment History (Months 1–6).</a:t>
            </a: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/>
              <a:t>Decision Logic (AI Engine): Using the Random Forest Model, the system calculates a delinquency probability. If the risk exceeds a specific threshold (e.g., 75%), it triggers a "Next Best Action" protocol.</a:t>
            </a: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/>
              <a:t>Actions (Intervention): The system executes automated outreach, such as SMS reminders for low-risk delays or personalized hardship offer emails for high-risk segments.</a:t>
            </a: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/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/>
              <a:t>Learning Loop: The system tracks whether the customer responded or paid. This outcome is fed back into the dataset to refine future predictions and improve the accuracy of the intervention logic.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 of Agentic AI</a:t>
            </a:r>
            <a:endParaRPr lang="en-GB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Font typeface="Arial" panose="020B0604020202090204" pitchFamily="34" charset="0"/>
              <a:buNone/>
            </a:pPr>
            <a:r>
              <a:rPr lang="en-US" altLang="en-US" dirty="0"/>
              <a:t>To balance efficiency with empathy, the system distinguishes between routine tasks and high-stakes financial decisions.</a:t>
            </a:r>
            <a:endParaRPr lang="en-US" altLang="en-US" dirty="0"/>
          </a:p>
        </p:txBody>
      </p:sp>
      <p:graphicFrame>
        <p:nvGraphicFramePr>
          <p:cNvPr id="3" name="Table 2"/>
          <p:cNvGraphicFramePr/>
          <p:nvPr/>
        </p:nvGraphicFramePr>
        <p:xfrm>
          <a:off x="892175" y="2273300"/>
          <a:ext cx="7863840" cy="28702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574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Autonomous (AI Driven)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152717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Human Oversight (Expert Review)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0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Initial risk scoring and tiering.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152717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Approval of high-value debt restructuring plans.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0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Sending automated SMS/Email reminders.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152717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Handling complex appeals or customer disputes.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0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Scheduling follow-up communications.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152717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Final decision on legal escalations.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0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40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Real-time dashboard updates for the team.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152717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Adjusting model thresholds during economic shifts.</a:t>
                      </a:r>
                      <a:endParaRPr lang="en-US" altLang="zh-CN"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0" marT="203517" marB="2035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Responsible AI Guardrails</a:t>
            </a:r>
            <a:endParaRPr lang="en-GB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altLang="en-US" sz="1200" dirty="0"/>
              <a:t>We ensure the system operates ethically through a "Fairness by Design" framework.</a:t>
            </a:r>
            <a:endParaRPr lang="en-US" altLang="en-US" sz="1200" dirty="0"/>
          </a:p>
          <a:p>
            <a:pPr>
              <a:buNone/>
            </a:pPr>
            <a:endParaRPr lang="en-US" altLang="en-US" sz="1200" dirty="0"/>
          </a:p>
          <a:p>
            <a:pPr>
              <a:buNone/>
            </a:pPr>
            <a:r>
              <a:rPr lang="en-US" altLang="en-US" sz="1200" dirty="0"/>
              <a:t>Fairness Checks: Monthly audits to ensure the model does not disproportionately target specific Locations or Age groups (Disparate Impact Analysis).</a:t>
            </a:r>
            <a:endParaRPr lang="en-US" altLang="en-US" sz="1200" dirty="0"/>
          </a:p>
          <a:p>
            <a:pPr>
              <a:buNone/>
            </a:pPr>
            <a:endParaRPr lang="en-US" altLang="en-US" sz="1200" dirty="0"/>
          </a:p>
          <a:p>
            <a:pPr>
              <a:buNone/>
            </a:pPr>
            <a:r>
              <a:rPr lang="en-US" altLang="en-US" sz="1200" dirty="0"/>
              <a:t>Explainability: Every AI-generated risk score includes a "Reason Code" (e.g., “Flagged due to 80% utilization”) to ensure transparency for both staff and customers.</a:t>
            </a:r>
            <a:endParaRPr lang="en-US" altLang="en-US" sz="1200" dirty="0"/>
          </a:p>
          <a:p>
            <a:pPr>
              <a:buNone/>
            </a:pPr>
            <a:endParaRPr lang="en-US" altLang="en-US" sz="1200" dirty="0"/>
          </a:p>
          <a:p>
            <a:pPr>
              <a:buNone/>
            </a:pPr>
            <a:r>
              <a:rPr lang="en-US" altLang="en-US" sz="1200" dirty="0"/>
              <a:t>Regulatory Compliance: Built-in logic to adhere to the Fair Debt Collection Practices Act (FDCPA), ensuring contact frequency and timing remain within legal limits.</a:t>
            </a:r>
            <a:endParaRPr lang="en-US" altLang="en-US" sz="1200" dirty="0"/>
          </a:p>
          <a:p>
            <a:pPr>
              <a:buNone/>
            </a:pPr>
            <a:endParaRPr lang="en-US" altLang="en-US" sz="1200" dirty="0"/>
          </a:p>
          <a:p>
            <a:pPr>
              <a:buNone/>
            </a:pPr>
            <a:r>
              <a:rPr lang="en-US" altLang="en-US" sz="1200" dirty="0"/>
              <a:t>Human-in-the-Loop: A mandatory manual review for any action that involves reducing a customer's credit limit or changing their account status to "Default.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Expected Business Impact</a:t>
            </a:r>
            <a:endParaRPr lang="en-GB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altLang="en-US" sz="1200" dirty="0">
                <a:latin typeface="Times New Roman" panose="02020503050405090304" charset="0"/>
                <a:cs typeface="Times New Roman" panose="02020503050405090304" charset="0"/>
              </a:rPr>
              <a:t>This system shifts Geldium from a reactive "recovery" mindset to a proactive "prevention" strategy.</a:t>
            </a: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r>
              <a:rPr lang="en-US" altLang="en-US" sz="1200" dirty="0">
                <a:latin typeface="Times New Roman" panose="02020503050405090304" charset="0"/>
                <a:cs typeface="Times New Roman" panose="02020503050405090304" charset="0"/>
              </a:rPr>
              <a:t>Quantitative Outcomes (Business KPIs):</a:t>
            </a: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r>
              <a:rPr lang="en-US" altLang="en-US" sz="1200" dirty="0">
                <a:latin typeface="Times New Roman" panose="02020503050405090304" charset="0"/>
                <a:cs typeface="Times New Roman" panose="02020503050405090304" charset="0"/>
              </a:rPr>
              <a:t>Reduced Delinquency: Target 15% decrease in accounts transitioning from "Late" to "Delinquent."</a:t>
            </a: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r>
              <a:rPr lang="en-US" altLang="en-US" sz="1200" dirty="0">
                <a:latin typeface="Times New Roman" panose="02020503050405090304" charset="0"/>
                <a:cs typeface="Times New Roman" panose="02020503050405090304" charset="0"/>
              </a:rPr>
              <a:t>Cost Savings: 25% reduction in manual collection call volume through automated outreach.</a:t>
            </a: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r>
              <a:rPr lang="en-US" altLang="en-US" sz="1200" dirty="0">
                <a:latin typeface="Times New Roman" panose="02020503050405090304" charset="0"/>
                <a:cs typeface="Times New Roman" panose="02020503050405090304" charset="0"/>
              </a:rPr>
              <a:t>Recovery Rate: Faster identification of high-risk accounts leading to a 10% increase in early-stage recoveries.</a:t>
            </a:r>
            <a:endParaRPr lang="en-US" altLang="en-US" sz="1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buNone/>
            </a:pPr>
            <a:endParaRPr lang="en-US" altLang="en-US" sz="1600" dirty="0"/>
          </a:p>
          <a:p>
            <a:pPr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1000" dirty="0">
                <a:latin typeface="Times New Roman" panose="02020503050405090304" charset="0"/>
                <a:cs typeface="Times New Roman" panose="02020503050405090304" charset="0"/>
              </a:rPr>
              <a:t>Qualitative Outcomes (Customer &amp; Scale):</a:t>
            </a:r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000" dirty="0">
                <a:latin typeface="Times New Roman" panose="02020503050405090304" charset="0"/>
                <a:cs typeface="Times New Roman" panose="02020503050405090304" charset="0"/>
              </a:rPr>
              <a:t>Improved Trust: Customers receive support (counseling/hardship plans) rather than just demands for payment.</a:t>
            </a:r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000" dirty="0">
                <a:latin typeface="Times New Roman" panose="02020503050405090304" charset="0"/>
                <a:cs typeface="Times New Roman" panose="02020503050405090304" charset="0"/>
              </a:rPr>
              <a:t>Scalability: The system handles thousands of accounts simultaneously without increasing headcount.</a:t>
            </a:r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000" dirty="0">
                <a:latin typeface="Times New Roman" panose="02020503050405090304" charset="0"/>
                <a:cs typeface="Times New Roman" panose="02020503050405090304" charset="0"/>
              </a:rPr>
              <a:t>Consistency: Every customer is evaluated against the same objective, data-driven criteria, reducing human bias.</a:t>
            </a:r>
            <a:endParaRPr lang="en-US" altLang="en-US" sz="10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Qualitative Outcomes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3078</Words>
  <Application>WPS Writer</Application>
  <PresentationFormat>On-screen Show (16:9)</PresentationFormat>
  <Paragraphs>76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Arial</vt:lpstr>
      <vt:lpstr>Roboto Slab</vt:lpstr>
      <vt:lpstr>Roboto</vt:lpstr>
      <vt:lpstr>Microsoft YaHei</vt:lpstr>
      <vt:lpstr>汉仪旗黑</vt:lpstr>
      <vt:lpstr>Arial Unicode MS</vt:lpstr>
      <vt:lpstr>汉仪书宋二KW</vt:lpstr>
      <vt:lpstr>Times New Roman</vt:lpstr>
      <vt:lpstr>Google Sans Text</vt:lpstr>
      <vt:lpstr>Thonburi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VarshaVeeramalli</cp:lastModifiedBy>
  <cp:revision>3</cp:revision>
  <dcterms:created xsi:type="dcterms:W3CDTF">2026-03-15T08:04:44Z</dcterms:created>
  <dcterms:modified xsi:type="dcterms:W3CDTF">2026-03-15T08:04:44Z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D831FB0F2E7441031C68B6695ED41406_43</vt:lpwstr>
  </property>
  <property fmtid="{D5CDD505-2E9C-101B-9397-08002B2CF9AE}" pid="3" name="KSOProductBuildVer">
    <vt:lpwstr>1033-12.1.23155.23155</vt:lpwstr>
  </property>
</Properties>
</file>